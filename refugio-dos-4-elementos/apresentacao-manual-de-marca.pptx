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E49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645920"/>
            <a:ext cx="6858000" cy="6858000"/>
          </a:xfrm>
          <a:prstGeom prst="ellipse">
            <a:avLst/>
          </a:prstGeom>
          <a:noFill/>
          <a:ln w="15875">
            <a:solidFill>
              <a:srgbClr val="8B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4114800"/>
            <a:ext cx="5486400" cy="5486400"/>
          </a:xfrm>
          <a:prstGeom prst="ellipse">
            <a:avLst/>
          </a:prstGeom>
          <a:noFill/>
          <a:ln w="15875">
            <a:solidFill>
              <a:srgbClr val="8B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C9A24E"/>
                </a:solidFill>
                <a:latin typeface="Quicksand"/>
              </a:rPr>
              <a:t>AGÊNCIA RECRIA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9601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 i="0">
                <a:solidFill>
                  <a:srgbClr val="FFFFFF"/>
                </a:solidFill>
                <a:latin typeface="Cormorant Garamond"/>
              </a:rPr>
              <a:t>Manual de Marca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0332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 i="1">
                <a:solidFill>
                  <a:srgbClr val="F7F3EC"/>
                </a:solidFill>
                <a:latin typeface="Cormorant Garamond"/>
              </a:rPr>
              <a:t>Refúgio dos 4 Elementos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A9C4CB"/>
                </a:solidFill>
                <a:latin typeface="Quicksand"/>
              </a:rPr>
              <a:t>Recriando Marketing, Simplificando Vendas</a:t>
            </a:r>
          </a:p>
        </p:txBody>
      </p:sp>
      <p:pic>
        <p:nvPicPr>
          <p:cNvPr id="9" name="Picture 8" descr="_recria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5695892"/>
            <a:ext cx="1188720" cy="8420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3B2E2A"/>
                </a:solidFill>
                <a:latin typeface="Cormorant Garamond"/>
              </a:rPr>
              <a:t>O que vamos apresentar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C97B4A"/>
                </a:solidFill>
                <a:latin typeface="Cormorant Garamond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828800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B2E2A"/>
                </a:solidFill>
                <a:latin typeface="Lora"/>
              </a:rPr>
              <a:t>Essência da Marca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2212848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6B5E55"/>
                </a:solidFill>
                <a:latin typeface="Lora"/>
              </a:rPr>
              <a:t>Missão, visão e valores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C97B4A"/>
                </a:solidFill>
                <a:latin typeface="Cormorant Garamond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880360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B2E2A"/>
                </a:solidFill>
                <a:latin typeface="Lora"/>
              </a:rPr>
              <a:t>Tom de Voz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3264408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6B5E55"/>
                </a:solidFill>
                <a:latin typeface="Lora"/>
              </a:rPr>
              <a:t>Como a marca fala — e não fala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3192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C97B4A"/>
                </a:solidFill>
                <a:latin typeface="Cormorant Garamond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931920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B2E2A"/>
                </a:solidFill>
                <a:latin typeface="Lora"/>
              </a:rPr>
              <a:t>O que pode / não pode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4315968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6B5E55"/>
                </a:solidFill>
                <a:latin typeface="Lora"/>
              </a:rPr>
              <a:t>Limites da comunicação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98348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C97B4A"/>
                </a:solidFill>
                <a:latin typeface="Cormorant Garamond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983480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B2E2A"/>
                </a:solidFill>
                <a:latin typeface="Lora"/>
              </a:rPr>
              <a:t>Logo e Conceito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5367528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6B5E55"/>
                </a:solidFill>
                <a:latin typeface="Lora"/>
              </a:rPr>
              <a:t>O símbolo dos 4 elementos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2880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C97B4A"/>
                </a:solidFill>
                <a:latin typeface="Cormorant Garamond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1828800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B2E2A"/>
                </a:solidFill>
                <a:latin typeface="Lora"/>
              </a:rPr>
              <a:t>Paleta de Cores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2212848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6B5E55"/>
                </a:solidFill>
                <a:latin typeface="Lora"/>
              </a:rPr>
              <a:t>As cores que contam a história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88036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C97B4A"/>
                </a:solidFill>
                <a:latin typeface="Cormorant Garamond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2880360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B2E2A"/>
                </a:solidFill>
                <a:latin typeface="Lora"/>
              </a:rPr>
              <a:t>Tipografia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3264408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6B5E55"/>
                </a:solidFill>
                <a:latin typeface="Lora"/>
              </a:rPr>
              <a:t>As fontes da marca, prontas pro Canva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93192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C97B4A"/>
                </a:solidFill>
                <a:latin typeface="Cormorant Garamond"/>
              </a:rP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3931920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B2E2A"/>
                </a:solidFill>
                <a:latin typeface="Lora"/>
              </a:rPr>
              <a:t>Aplicações Visuais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4315968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6B5E55"/>
                </a:solidFill>
                <a:latin typeface="Lora"/>
              </a:rPr>
              <a:t>A marca em 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3B2E2A"/>
                </a:solidFill>
                <a:latin typeface="Cormorant Garamond"/>
              </a:rPr>
              <a:t>Essência da Marca</a:t>
            </a:r>
          </a:p>
        </p:txBody>
      </p:sp>
      <p:sp>
        <p:nvSpPr>
          <p:cNvPr id="4" name="Oval 3"/>
          <p:cNvSpPr/>
          <p:nvPr/>
        </p:nvSpPr>
        <p:spPr>
          <a:xfrm>
            <a:off x="9692640" y="365760"/>
            <a:ext cx="2011680" cy="2011680"/>
          </a:xfrm>
          <a:prstGeom prst="ellipse">
            <a:avLst/>
          </a:prstGeom>
          <a:noFill/>
          <a:ln w="15875">
            <a:solidFill>
              <a:srgbClr val="8B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810512"/>
            <a:ext cx="146304" cy="146304"/>
          </a:xfrm>
          <a:prstGeom prst="ellipse">
            <a:avLst/>
          </a:prstGeom>
          <a:solidFill>
            <a:srgbClr val="8B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8B6FA8"/>
                </a:solidFill>
                <a:latin typeface="Cormorant Garamond"/>
              </a:rPr>
              <a:t>Missão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240280"/>
            <a:ext cx="9875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3B2E2A"/>
                </a:solidFill>
                <a:latin typeface="Lora"/>
              </a:rPr>
              <a:t>Oferecer um espaço seguro de acolhimento e cura, onde cada pessoa possa se reconectar com sua própria essência através da sabedoria dos 4 elementos e de práticas terapêuticas, energéticas e espirituais conduzidas com escuta genuína e responsabilidade técnica.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410712"/>
            <a:ext cx="146304" cy="146304"/>
          </a:xfrm>
          <a:prstGeom prst="ellipse">
            <a:avLst/>
          </a:prstGeom>
          <a:solidFill>
            <a:srgbClr val="C97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33756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C97B4A"/>
                </a:solidFill>
                <a:latin typeface="Cormorant Garamond"/>
              </a:rPr>
              <a:t>Visão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840480"/>
            <a:ext cx="9875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3B2E2A"/>
                </a:solidFill>
                <a:latin typeface="Lora"/>
              </a:rPr>
              <a:t>Ser reconhecido como referência em terapia holística universalista — a primeira indicação de quem busca transformação real, acolhimento sem julgamento e segurança em práticas como Constelação Familiar, Reiki e Ayahuasca.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98348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6B8F71"/>
                </a:solidFill>
                <a:latin typeface="Cormorant Garamond"/>
              </a:rPr>
              <a:t>Valores</a:t>
            </a:r>
          </a:p>
        </p:txBody>
      </p:sp>
      <p:sp>
        <p:nvSpPr>
          <p:cNvPr id="12" name="Oval 11"/>
          <p:cNvSpPr/>
          <p:nvPr/>
        </p:nvSpPr>
        <p:spPr>
          <a:xfrm>
            <a:off x="1143000" y="5568696"/>
            <a:ext cx="109728" cy="109728"/>
          </a:xfrm>
          <a:prstGeom prst="ellipse">
            <a:avLst/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550468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3B2E2A"/>
                </a:solidFill>
                <a:latin typeface="Lora"/>
              </a:rPr>
              <a:t>Acolhimento incondicional</a:t>
            </a:r>
          </a:p>
        </p:txBody>
      </p:sp>
      <p:sp>
        <p:nvSpPr>
          <p:cNvPr id="14" name="Oval 13"/>
          <p:cNvSpPr/>
          <p:nvPr/>
        </p:nvSpPr>
        <p:spPr>
          <a:xfrm>
            <a:off x="6035040" y="5568696"/>
            <a:ext cx="109728" cy="109728"/>
          </a:xfrm>
          <a:prstGeom prst="ellipse">
            <a:avLst/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550468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3B2E2A"/>
                </a:solidFill>
                <a:latin typeface="Lora"/>
              </a:rPr>
              <a:t>Universalidade espiritual</a:t>
            </a:r>
          </a:p>
        </p:txBody>
      </p:sp>
      <p:sp>
        <p:nvSpPr>
          <p:cNvPr id="16" name="Oval 15"/>
          <p:cNvSpPr/>
          <p:nvPr/>
        </p:nvSpPr>
        <p:spPr>
          <a:xfrm>
            <a:off x="1143000" y="5952744"/>
            <a:ext cx="109728" cy="109728"/>
          </a:xfrm>
          <a:prstGeom prst="ellipse">
            <a:avLst/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5888736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3B2E2A"/>
                </a:solidFill>
                <a:latin typeface="Lora"/>
              </a:rPr>
              <a:t>Técnica com seriedade</a:t>
            </a:r>
          </a:p>
        </p:txBody>
      </p:sp>
      <p:sp>
        <p:nvSpPr>
          <p:cNvPr id="18" name="Oval 17"/>
          <p:cNvSpPr/>
          <p:nvPr/>
        </p:nvSpPr>
        <p:spPr>
          <a:xfrm>
            <a:off x="6035040" y="5952744"/>
            <a:ext cx="109728" cy="109728"/>
          </a:xfrm>
          <a:prstGeom prst="ellipse">
            <a:avLst/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5888736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3B2E2A"/>
                </a:solidFill>
                <a:latin typeface="Lora"/>
              </a:rPr>
              <a:t>Conexão com a natureza</a:t>
            </a:r>
          </a:p>
        </p:txBody>
      </p:sp>
      <p:sp>
        <p:nvSpPr>
          <p:cNvPr id="20" name="Oval 19"/>
          <p:cNvSpPr/>
          <p:nvPr/>
        </p:nvSpPr>
        <p:spPr>
          <a:xfrm>
            <a:off x="1143000" y="6336792"/>
            <a:ext cx="109728" cy="109728"/>
          </a:xfrm>
          <a:prstGeom prst="ellipse">
            <a:avLst/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627278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3B2E2A"/>
                </a:solidFill>
                <a:latin typeface="Lora"/>
              </a:rPr>
              <a:t>Transformação genuína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B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Cormorant Garamond"/>
              </a:rPr>
              <a:t>Tom de Voz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15600" cy="1737360"/>
          </a:xfrm>
          <a:prstGeom prst="roundRect">
            <a:avLst>
              <a:gd name="adj" fmla="val 6000"/>
            </a:avLst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202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C97B4A"/>
                </a:solidFill>
                <a:latin typeface="Quicksand"/>
              </a:rPr>
              <a:t>COMO A MARCA FALA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331720"/>
            <a:ext cx="9784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3B2E2A"/>
                </a:solidFill>
                <a:latin typeface="Lora"/>
              </a:rPr>
              <a:t>Acolhedora, espiritual mas não dogmática, leve — e assertiva quando fala de técnica.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880360"/>
            <a:ext cx="9784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1">
                <a:solidFill>
                  <a:srgbClr val="5E4976"/>
                </a:solidFill>
                <a:latin typeface="Cormorant Garamond"/>
              </a:rPr>
              <a:t>“Você não precisa estar pronto pra nada aqui — só precisa se permitir chegar.”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49039"/>
            <a:ext cx="10515600" cy="1920240"/>
          </a:xfrm>
          <a:prstGeom prst="roundRect">
            <a:avLst>
              <a:gd name="adj" fmla="val 6000"/>
            </a:avLst>
          </a:prstGeom>
          <a:solidFill>
            <a:srgbClr val="5E49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9319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E8C9A8"/>
                </a:solidFill>
                <a:latin typeface="Quicksand"/>
              </a:rPr>
              <a:t>COMO A MARCA NÃO FALA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343400"/>
            <a:ext cx="9784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0" i="0">
                <a:solidFill>
                  <a:srgbClr val="FFFFFF"/>
                </a:solidFill>
                <a:latin typeface="Lora"/>
              </a:rPr>
              <a:t>Não fala de forma fria ou clínica. Não usa símbolos ou linguagem de uma religião específica. Não promete cura garantida. Não usa urgência agressiva de vendas.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3B2E2A"/>
                </a:solidFill>
                <a:latin typeface="Cormorant Garamond"/>
              </a:rPr>
              <a:t>O que pode / não pode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5120640" cy="4206240"/>
          </a:xfrm>
          <a:prstGeom prst="roundRect">
            <a:avLst>
              <a:gd name="adj" fmla="val 4000"/>
            </a:avLst>
          </a:prstGeom>
          <a:solidFill>
            <a:srgbClr val="6B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737360"/>
            <a:ext cx="5120640" cy="4206240"/>
          </a:xfrm>
          <a:prstGeom prst="roundRect">
            <a:avLst>
              <a:gd name="adj" fmla="val 4000"/>
            </a:avLst>
          </a:prstGeom>
          <a:solidFill>
            <a:srgbClr val="9C5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9659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ormorant Garamond"/>
              </a:rPr>
              <a:t>SIM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Lora"/>
              </a:rPr>
              <a:t>•  Falar na 2ª pessoa, em tom próximo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9272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Lora"/>
              </a:rPr>
              <a:t>•  Falar abertamente sobre dores sem estigmatizar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032504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Lora"/>
              </a:rPr>
              <a:t>•  Usar elementos da natureza na comunicação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745736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Lora"/>
              </a:rPr>
              <a:t>•  Reconhecer toda a equipe de terapeutas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9659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ormorant Garamond"/>
              </a:rPr>
              <a:t>NÃO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606040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Lora"/>
              </a:rPr>
              <a:t>•  Usar símbolos de religião específica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319272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Lora"/>
              </a:rPr>
              <a:t>•  Prometer cura garantida ou em prazo fixo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4032504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Lora"/>
              </a:rPr>
              <a:t>•  Linguagem de urgência agressiva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745736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Lora"/>
              </a:rPr>
              <a:t>•  Centralizar tudo em uma única pessoa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6400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3B2E2A"/>
                </a:solidFill>
                <a:latin typeface="Cormorant Garamond"/>
              </a:rPr>
              <a:t>O 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548640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 i="0">
                <a:solidFill>
                  <a:srgbClr val="3B2E2A"/>
                </a:solidFill>
                <a:latin typeface="Lora"/>
              </a:rPr>
              <a:t>Um anel fino e delicado, com o interior vazio — sem ponto central, sem divisões.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 i="0">
                <a:solidFill>
                  <a:srgbClr val="3B2E2A"/>
                </a:solidFill>
                <a:latin typeface="Lora"/>
              </a:rPr>
              <a:t/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 i="0">
                <a:solidFill>
                  <a:srgbClr val="3B2E2A"/>
                </a:solidFill>
                <a:latin typeface="Lora"/>
              </a:rPr>
              <a:t>Sobre a própria linha do anel, 4 ícones simples se posicionam como marcadores: chama, gota, folha e vento — os 4 elementos que dão nome ao espaço.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 i="0">
                <a:solidFill>
                  <a:srgbClr val="3B2E2A"/>
                </a:solidFill>
                <a:latin typeface="Lora"/>
              </a:rPr>
              <a:t/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 i="0">
                <a:solidFill>
                  <a:srgbClr val="3B2E2A"/>
                </a:solidFill>
                <a:latin typeface="Lora"/>
              </a:rPr>
              <a:t>O resultado é um símbolo que respira: leve, espiritual, e fácil de reconhecer mesmo em tamanho pequeno.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28016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B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Cormorant Garamond"/>
              </a:rPr>
              <a:t>Logo Completo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77440" y="1554480"/>
            <a:ext cx="7406640" cy="4754880"/>
          </a:xfrm>
          <a:prstGeom prst="roundRect">
            <a:avLst>
              <a:gd name="adj" fmla="val 3000"/>
            </a:avLst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1828800"/>
            <a:ext cx="42062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3B2E2A"/>
                </a:solidFill>
                <a:latin typeface="Cormorant Garamond"/>
              </a:rPr>
              <a:t>Paleta de Cores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9427" y="2103120"/>
            <a:ext cx="1691640" cy="2286000"/>
          </a:xfrm>
          <a:prstGeom prst="roundRect">
            <a:avLst>
              <a:gd name="adj" fmla="val 8000"/>
            </a:avLst>
          </a:prstGeom>
          <a:solidFill>
            <a:srgbClr val="8B6FA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867" y="4480560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3B2E2A"/>
                </a:solidFill>
                <a:latin typeface="Lora"/>
              </a:rPr>
              <a:t>Lilás Refúgio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867" y="4828032"/>
            <a:ext cx="1508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6B5E55"/>
                </a:solidFill>
                <a:latin typeface="Quicksand"/>
              </a:rPr>
              <a:t>#8B6FA8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69667" y="2103120"/>
            <a:ext cx="1691640" cy="2286000"/>
          </a:xfrm>
          <a:prstGeom prst="roundRect">
            <a:avLst>
              <a:gd name="adj" fmla="val 8000"/>
            </a:avLst>
          </a:prstGeom>
          <a:solidFill>
            <a:srgbClr val="6B8F71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1107" y="4480560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3B2E2A"/>
                </a:solidFill>
                <a:latin typeface="Lora"/>
              </a:rPr>
              <a:t>Verde Sálvia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1107" y="4828032"/>
            <a:ext cx="1508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6B5E55"/>
                </a:solidFill>
                <a:latin typeface="Quicksand"/>
              </a:rPr>
              <a:t>#6B8F71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9907" y="2103120"/>
            <a:ext cx="1691640" cy="2286000"/>
          </a:xfrm>
          <a:prstGeom prst="roundRect">
            <a:avLst>
              <a:gd name="adj" fmla="val 8000"/>
            </a:avLst>
          </a:prstGeom>
          <a:solidFill>
            <a:srgbClr val="C97B4A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1347" y="4480560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3B2E2A"/>
                </a:solidFill>
                <a:latin typeface="Lora"/>
              </a:rPr>
              <a:t>Terracota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1347" y="4828032"/>
            <a:ext cx="1508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6B5E55"/>
                </a:solidFill>
                <a:latin typeface="Quicksand"/>
              </a:rPr>
              <a:t>#C97B4A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147" y="2103120"/>
            <a:ext cx="1691640" cy="2286000"/>
          </a:xfrm>
          <a:prstGeom prst="roundRect">
            <a:avLst>
              <a:gd name="adj" fmla="val 8000"/>
            </a:avLst>
          </a:prstGeom>
          <a:solidFill>
            <a:srgbClr val="A9C4CB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1587" y="4480560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3B2E2A"/>
                </a:solidFill>
                <a:latin typeface="Lora"/>
              </a:rPr>
              <a:t>Azul Acinzentado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1587" y="4828032"/>
            <a:ext cx="1508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6B5E55"/>
                </a:solidFill>
                <a:latin typeface="Quicksand"/>
              </a:rPr>
              <a:t>#A9C4CB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0387" y="2103120"/>
            <a:ext cx="1691640" cy="2286000"/>
          </a:xfrm>
          <a:prstGeom prst="roundRect">
            <a:avLst>
              <a:gd name="adj" fmla="val 8000"/>
            </a:avLst>
          </a:prstGeom>
          <a:solidFill>
            <a:srgbClr val="F7F3EC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1827" y="4480560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3B2E2A"/>
                </a:solidFill>
                <a:latin typeface="Lora"/>
              </a:rPr>
              <a:t>Creme Areia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1827" y="4828032"/>
            <a:ext cx="1508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6B5E55"/>
                </a:solidFill>
                <a:latin typeface="Quicksand"/>
              </a:rPr>
              <a:t>#F7F3EC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0627" y="2103120"/>
            <a:ext cx="1691640" cy="2286000"/>
          </a:xfrm>
          <a:prstGeom prst="roundRect">
            <a:avLst>
              <a:gd name="adj" fmla="val 8000"/>
            </a:avLst>
          </a:prstGeom>
          <a:solidFill>
            <a:srgbClr val="3B2E2A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2067" y="4480560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3B2E2A"/>
                </a:solidFill>
                <a:latin typeface="Lora"/>
              </a:rPr>
              <a:t>Marrom Terra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2067" y="4828032"/>
            <a:ext cx="1508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6B5E55"/>
                </a:solidFill>
                <a:latin typeface="Quicksand"/>
              </a:rPr>
              <a:t>#3B2E2A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3B2E2A"/>
                </a:solidFill>
                <a:latin typeface="Cormorant Garamond"/>
              </a:rPr>
              <a:t>Tipografia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105156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B6FA8"/>
                </a:solidFill>
                <a:latin typeface="Quicksand"/>
              </a:rPr>
              <a:t>CORMORANT GARAMOND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 i="1">
                <a:solidFill>
                  <a:srgbClr val="8A7D73"/>
                </a:solidFill>
                <a:latin typeface="Lora"/>
              </a:rPr>
              <a:t>Título e logo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31720"/>
            <a:ext cx="9875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0" i="0">
                <a:solidFill>
                  <a:srgbClr val="3B2E2A"/>
                </a:solidFill>
                <a:latin typeface="Cormorant Garamond"/>
              </a:rPr>
              <a:t>Refúgio dos 4 Elementos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429000"/>
            <a:ext cx="105156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5661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C97B4A"/>
                </a:solidFill>
                <a:latin typeface="Quicksand"/>
              </a:rPr>
              <a:t>QUICKSAND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661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 i="1">
                <a:solidFill>
                  <a:srgbClr val="8A7D73"/>
                </a:solidFill>
                <a:latin typeface="Lora"/>
              </a:rPr>
              <a:t>Destaque e CTA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31920"/>
            <a:ext cx="9875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 i="0">
                <a:solidFill>
                  <a:srgbClr val="3B2E2A"/>
                </a:solidFill>
                <a:latin typeface="Quicksand"/>
              </a:rPr>
              <a:t>AGENDE PELO WHATSAPP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029200"/>
            <a:ext cx="105156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1663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6B8F71"/>
                </a:solidFill>
                <a:latin typeface="Quicksand"/>
              </a:rPr>
              <a:t>LORA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1663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 i="1">
                <a:solidFill>
                  <a:srgbClr val="8A7D73"/>
                </a:solidFill>
                <a:latin typeface="Lora"/>
              </a:rPr>
              <a:t>Corpo de texto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532120"/>
            <a:ext cx="9875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3B2E2A"/>
                </a:solidFill>
                <a:latin typeface="Lora"/>
              </a:rPr>
              <a:t>Conduzido com acolhimento e respeito ao seu tempo.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E49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4937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ormorant Garamond"/>
              </a:rPr>
              <a:t>Post de Instagram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 i="0">
                <a:solidFill>
                  <a:srgbClr val="F7F3EC"/>
                </a:solidFill>
                <a:latin typeface="Lora"/>
              </a:rPr>
              <a:t>Comunicação direta com quem ainda não conhece as terapias do espaço.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502920"/>
            <a:ext cx="5394960" cy="5852160"/>
          </a:xfrm>
          <a:prstGeom prst="roundRect">
            <a:avLst>
              <a:gd name="adj" fmla="val 3000"/>
            </a:avLst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ost-instagram-feed_exemp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731520"/>
            <a:ext cx="4315968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E49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4937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ormorant Garamond"/>
              </a:rPr>
              <a:t>Anúncio — Stories / Reels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 i="0">
                <a:solidFill>
                  <a:srgbClr val="F7F3EC"/>
                </a:solidFill>
                <a:latin typeface="Lora"/>
              </a:rPr>
              <a:t>Tráfego pago com foco em agendamento via WhatsApp.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502920"/>
            <a:ext cx="5394960" cy="5852160"/>
          </a:xfrm>
          <a:prstGeom prst="roundRect">
            <a:avLst>
              <a:gd name="adj" fmla="val 3000"/>
            </a:avLst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nuncio-stories-reels_exemp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5187" y="731520"/>
            <a:ext cx="3034665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E49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4937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ormorant Garamond"/>
              </a:rPr>
              <a:t>Banner — Imersão na Cachoeira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 i="0">
                <a:solidFill>
                  <a:srgbClr val="F7F3EC"/>
                </a:solidFill>
                <a:latin typeface="Lora"/>
              </a:rPr>
              <a:t>Divulgação de evento presencial, usando os 4 elementos na composição.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502920"/>
            <a:ext cx="5394960" cy="5852160"/>
          </a:xfrm>
          <a:prstGeom prst="roundRect">
            <a:avLst>
              <a:gd name="adj" fmla="val 3000"/>
            </a:avLst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anner-imersao-cachoeira_exemp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040255"/>
            <a:ext cx="4937760" cy="27774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E49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463040"/>
            <a:ext cx="6400800" cy="6400800"/>
          </a:xfrm>
          <a:prstGeom prst="ellipse">
            <a:avLst/>
          </a:prstGeom>
          <a:noFill/>
          <a:ln w="15875">
            <a:solidFill>
              <a:srgbClr val="8B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194560" y="3840480"/>
            <a:ext cx="5029200" cy="5029200"/>
          </a:xfrm>
          <a:prstGeom prst="ellipse">
            <a:avLst/>
          </a:prstGeom>
          <a:noFill/>
          <a:ln w="15875">
            <a:solidFill>
              <a:srgbClr val="8B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8288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0" b="1" i="0">
                <a:solidFill>
                  <a:srgbClr val="FFFFFF"/>
                </a:solidFill>
                <a:latin typeface="Cormorant Garamond"/>
              </a:rPr>
              <a:t>Obrigada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880360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1">
                <a:solidFill>
                  <a:srgbClr val="F7F3EC"/>
                </a:solidFill>
                <a:latin typeface="Lora"/>
              </a:rPr>
              <a:t>Esse manual é o ponto de partida de tudo que vamos construir juntos.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C9A24E"/>
                </a:solidFill>
                <a:latin typeface="Quicksand"/>
              </a:rPr>
              <a:t>www.agenciarecria.com.br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57200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C9A24E"/>
                </a:solidFill>
                <a:latin typeface="Quicksand"/>
              </a:rPr>
              <a:t>@agencia.recria</a:t>
            </a:r>
          </a:p>
        </p:txBody>
      </p:sp>
      <p:pic>
        <p:nvPicPr>
          <p:cNvPr id="9" name="Picture 8" descr="_recria_logo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5695892"/>
            <a:ext cx="1188720" cy="8420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